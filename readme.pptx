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9" r:id="rId3"/>
    <p:sldId id="257" r:id="rId4"/>
    <p:sldId id="258" r:id="rId5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09199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107" d="100"/>
          <a:sy n="107" d="100"/>
        </p:scale>
        <p:origin x="714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presProps" Target="presProps.xml"/><Relationship Id="rId5" Type="http://schemas.openxmlformats.org/officeDocument/2006/relationships/slide" Target="slides/slide4.xml"/><Relationship Id="rId4" Type="http://schemas.openxmlformats.org/officeDocument/2006/relationships/slide" Target="slides/slide3.xml"/><Relationship Id="rId9" Type="http://schemas.openxmlformats.org/officeDocument/2006/relationships/tableStyles" Target="tableStyle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64AE526-3C2B-4711-997E-5283C280DCC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3F3BB5D8-CAA5-F591-D9FC-D9611D61097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kumimoji="1" lang="ja-JP" altLang="en-US"/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05F2BEFC-A43C-9BBD-2D21-BD6A231E2FA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B667F1C-929B-8F7D-B217-7C5D959D85E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A27E8B8B-EE2D-10B5-83FC-B8AC2CEE72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31626786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01464712-C276-3CE6-9C79-B53E77AC6C4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C106007-10C1-8162-8632-9BE6F7535F1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E7F772B2-0894-9DFE-F61F-6BE005E3EC8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89F26EC-75B3-1D2F-A17E-F707654882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630BDE49-A34D-EBB7-B96C-D8D3A5D31C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67233011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C2618321-8585-515C-8CCD-4A1963BC7E5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B94A9E57-2898-8760-10FD-684035FC87A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78A92B6-96A3-E100-28DA-82A44639C45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94F85F1E-AC00-1B00-213F-D07091A86B0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522C798-0D13-4769-6305-ED086B4063A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680029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4819FA-0C9B-4546-983B-EED01B4BDDD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6CF99102-DBB8-E122-F2B4-60479D51F36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3D016904-E64B-7CA6-276A-A94CF72B214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613E0E54-AE61-4E91-2A68-57D52F30D55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5C5456ED-BCEB-5039-DAC0-974BF62F3BD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88534130-9019-B66B-F9D2-E81BD117119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504012124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D2DA57F-62A2-CBD2-4AEC-596AB13C3B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22C4CA68-AA70-39F7-EE13-34106D2D4145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879BBAFB-8276-950D-8EA2-BF4619673431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87E5B5EA-E4C2-6211-9325-CD1A93DC257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793CE6B-BC0B-6504-F027-5C592F78163A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B132ACA6-74B6-E600-8070-54E574D0121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6A3F6A89-D2F8-F800-5153-3DC84A500A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C6997414-2AAD-7C41-EB38-F05542CCCEF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051944588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E8D5F7D-6ECC-202D-6E68-8E1C3FB7B7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792811AA-1120-1C2E-20EF-091D265D03A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C58AAC0F-7361-BCB3-E120-3C7ADCF83F8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7FED693-5E6A-8941-BA18-F11977E11EA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452680566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0EDAF47C-4055-6A67-642F-74B6423C0F3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5272375E-4CA8-0B5D-C109-8555D61C1EB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D73B86DD-2C8F-D8F6-E70F-3C5CBFBB421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59378720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2410B43-6DE1-5EA9-81AF-F7A4617CADB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0AB8BB13-C27B-E084-7B44-DE9CCD4B755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33719732-6036-B340-318D-B91CC53A04E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204C04B4-C9D8-1C6D-38DE-671693CC64B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0104C556-0D08-5FF6-3A78-EB7F8FB514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417EDCA-697A-ACFC-CC37-CA2D458B59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189486765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3D778EA7-2825-9A3F-3901-F37EA98997D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4AFD6435-5BC1-54FF-D12A-05BF0771A230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kumimoji="1" lang="ja-JP" altLang="en-US"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DE6BC6DC-5B38-27B6-EAAF-9449E5DB58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kumimoji="1" lang="ja-JP" altLang="en-US"/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3C8EDC0B-CB69-7CF8-E3F8-8E7A3D28BF3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6D91EA6-DFFE-A23C-03F9-19F5D5879E4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386F1D55-DD2A-7E72-1255-18D543333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590905263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11B1667-E32A-3849-2DDE-5246D973E4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A4FD4B8F-EFFA-0F35-A217-561FC895797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49233BA-8767-D752-E469-F166E851837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7640B16D-3342-22E5-0617-38D20CF4C7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0800A60-04B6-B46F-BC70-B2739AE1A5E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43390757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3B246F68-64B6-1068-ACF6-6F361759A01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0482CCE-D751-C1FF-E946-292B1CB2800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BA39E63A-B793-FB2D-A560-E9D1A2E8E8F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F0A0909-D821-0337-3611-5A2B511DF3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5B2E8857-19A5-BC69-6CDA-54DF7F4210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80215094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B0A2547D-9DA7-4F93-E457-95285ADEB6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kumimoji="1" lang="ja-JP" altLang="en-US"/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3854AB1F-C082-45BD-D77C-86B5E316B64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6DE9C7B4-5795-8FBA-C86D-93F1E3B29D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F8BBBF9-E3FC-4297-A089-C48CD2D42611}" type="datetimeFigureOut">
              <a:rPr kumimoji="1" lang="ja-JP" altLang="en-US" smtClean="0"/>
              <a:t>2026/8/16</a:t>
            </a:fld>
            <a:endParaRPr kumimoji="1" lang="ja-JP" altLang="en-US"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3E60A21D-05EA-D060-06E1-8A5421A8AF2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kumimoji="1" lang="ja-JP" altLang="en-US"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26F049D-5960-DEDF-DB38-0F7386CDFCF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40ED78-8061-48E0-93D5-0A7321A3459E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71483478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2.xml.rels><?xml version="1.0" encoding="UTF-8" standalone="yes"?>
<Relationships xmlns="http://schemas.openxmlformats.org/package/2006/relationships"><Relationship Id="rId8" Type="http://schemas.openxmlformats.org/officeDocument/2006/relationships/image" Target="../media/image8.png"/><Relationship Id="rId3" Type="http://schemas.openxmlformats.org/officeDocument/2006/relationships/image" Target="../media/image3.png"/><Relationship Id="rId7" Type="http://schemas.openxmlformats.org/officeDocument/2006/relationships/image" Target="../media/image7.png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6.png"/><Relationship Id="rId5" Type="http://schemas.openxmlformats.org/officeDocument/2006/relationships/image" Target="../media/image5.png"/><Relationship Id="rId4" Type="http://schemas.openxmlformats.org/officeDocument/2006/relationships/image" Target="../media/image4.png"/><Relationship Id="rId9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15.png"/><Relationship Id="rId3" Type="http://schemas.openxmlformats.org/officeDocument/2006/relationships/image" Target="../media/image10.png"/><Relationship Id="rId7" Type="http://schemas.openxmlformats.org/officeDocument/2006/relationships/image" Target="../media/image14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11.png"/><Relationship Id="rId9" Type="http://schemas.openxmlformats.org/officeDocument/2006/relationships/image" Target="../media/image16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18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図 4">
            <a:extLst>
              <a:ext uri="{FF2B5EF4-FFF2-40B4-BE49-F238E27FC236}">
                <a16:creationId xmlns:a16="http://schemas.microsoft.com/office/drawing/2014/main" id="{F0DE3CCA-09A2-3BA4-ADE1-5291A6FB84A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2592" y="4288693"/>
            <a:ext cx="986802" cy="2160000"/>
          </a:xfrm>
          <a:prstGeom prst="rect">
            <a:avLst/>
          </a:prstGeom>
        </p:spPr>
      </p:pic>
      <p:pic>
        <p:nvPicPr>
          <p:cNvPr id="7" name="図 6">
            <a:extLst>
              <a:ext uri="{FF2B5EF4-FFF2-40B4-BE49-F238E27FC236}">
                <a16:creationId xmlns:a16="http://schemas.microsoft.com/office/drawing/2014/main" id="{14E68D09-2817-EC6C-8657-28AD1D95CEE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F0151B35-5F3C-DC7F-8ABC-0A0A87058B7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 v26.8.2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for Android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785F7AF1-99E0-0F27-6110-967E8FC6F391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②は「詳細校正」でも校正が可能です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↑↑↑ここまでは最初の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ドラクエウォークの画面を選択する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(Android14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以降の場合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→自動記録が成功した場合、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画面で戦闘開始の通知が出ます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9ACB1E92-791A-9CDB-1E8E-0E2A5D4010B8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3E348E81-98A4-B57F-81F3-657F7312157B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F1EB2A8A-A4D5-CD83-FF0A-A572E2098203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CF614664-0F7D-40BD-B190-8B03A27DFE69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0CE27011-307F-FE6E-551B-855B3855D528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46C45C08-5353-842E-B54B-A31F3F40E534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7F4BCC7B-D13F-8937-C9FA-4C9EA85469AF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90FC86A2-EEA3-75E9-58B1-26B3EC1BEA9C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9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6407930E-34C1-37DD-694F-6CB9BA0269C3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8F2B54F5-61BF-2957-7435-22BF5B07494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E9D0BCA7-4CDE-7D92-C318-AC15EEDBB92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DDE68958-9069-A507-DEB1-C4795FC4116C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AEFD70C0-9EA5-72B4-EDDF-8CD9D50D06E5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5E05AD0-3D38-2BBA-DBA8-F804ABE3FAC6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1E332041-C90C-4766-42F7-E5BDC7EB35FC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71F80654-C1D7-47E5-E433-3368B99C717D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8BF44463-DC6F-E8A3-7D13-4F93D7291709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87FE375B-FD03-271D-38D9-54901D2AD7A7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876AB9F6-8820-910E-99A2-96E1885DA10E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0107AD99-A256-01FC-704B-BD8B4195338A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3" name="正方形/長方形 42">
            <a:extLst>
              <a:ext uri="{FF2B5EF4-FFF2-40B4-BE49-F238E27FC236}">
                <a16:creationId xmlns:a16="http://schemas.microsoft.com/office/drawing/2014/main" id="{55440A85-4165-A2DC-2665-797CD799BCB9}"/>
              </a:ext>
            </a:extLst>
          </p:cNvPr>
          <p:cNvSpPr/>
          <p:nvPr/>
        </p:nvSpPr>
        <p:spPr>
          <a:xfrm>
            <a:off x="10923596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4" name="正方形/長方形 43">
            <a:extLst>
              <a:ext uri="{FF2B5EF4-FFF2-40B4-BE49-F238E27FC236}">
                <a16:creationId xmlns:a16="http://schemas.microsoft.com/office/drawing/2014/main" id="{C7F60958-450F-C270-8CF6-69B3B4151F7A}"/>
              </a:ext>
            </a:extLst>
          </p:cNvPr>
          <p:cNvSpPr/>
          <p:nvPr/>
        </p:nvSpPr>
        <p:spPr>
          <a:xfrm>
            <a:off x="11654118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DC51A967-435C-1F12-AFA7-8E30BBB33ACD}"/>
              </a:ext>
            </a:extLst>
          </p:cNvPr>
          <p:cNvSpPr/>
          <p:nvPr/>
        </p:nvSpPr>
        <p:spPr>
          <a:xfrm>
            <a:off x="11291149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76415604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C24838-2316-F43F-D323-D4865E9F3E6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567E3E59-1BC2-74DC-396B-3B7AFF18C65C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833082" y="4288693"/>
            <a:ext cx="986802" cy="216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BD1E612C-907D-9D09-699B-702767506C2F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v26.8.2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クイック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スタート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ガイド 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for iOS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4" name="テキスト ボックス 3">
            <a:extLst>
              <a:ext uri="{FF2B5EF4-FFF2-40B4-BE49-F238E27FC236}">
                <a16:creationId xmlns:a16="http://schemas.microsoft.com/office/drawing/2014/main" id="{AC750B03-10A6-7B56-867D-4CF4088EC727}"/>
              </a:ext>
            </a:extLst>
          </p:cNvPr>
          <p:cNvSpPr txBox="1"/>
          <p:nvPr/>
        </p:nvSpPr>
        <p:spPr>
          <a:xfrm>
            <a:off x="285306" y="1212112"/>
            <a:ext cx="7998082" cy="535531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キャプチャー画面の校正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アプリ使用前に戦闘を行い、以下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枚の画像を準備する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①パーティ選択画面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※P1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いずれかにフォーカスを当てること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VS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③勝利画面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④敗北画面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メイン画面から校正機能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カメラアイコン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「パーティ選択画面」を選択する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「画像をインポート」を選択し、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で保存した画像を設定する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「校正を開始」→「自動校正」→「この位置で決定」を選択する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→残りの②～④に対して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を繰り返す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②は「詳細校正」でも校正が可能です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↑↑↑ここまでは最初の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度だけ行えば</a:t>
            </a:r>
            <a:r>
              <a:rPr kumimoji="1"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OK</a:t>
            </a:r>
            <a:r>
              <a:rPr kumimoji="1"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です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↑↑↑</a:t>
            </a:r>
            <a:endParaRPr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自動記録の開始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メイン画面の中央にある「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」ボタンを押す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「ブロードキャストを開始」を押す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(iOS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の場合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ドラクエウォークの画面に切り替え、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戦闘を開始する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　→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iOS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版では戦闘開始</a:t>
            </a:r>
            <a:r>
              <a:rPr lang="en-US" altLang="ja-JP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終了の通知は表示されません</a:t>
            </a:r>
            <a:endParaRPr kumimoji="1" lang="en-US" altLang="ja-JP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6" name="図 5">
            <a:extLst>
              <a:ext uri="{FF2B5EF4-FFF2-40B4-BE49-F238E27FC236}">
                <a16:creationId xmlns:a16="http://schemas.microsoft.com/office/drawing/2014/main" id="{DC77ECC1-5733-3BC8-56E3-114EEA9948A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789987" y="4288693"/>
            <a:ext cx="986802" cy="2160000"/>
          </a:xfrm>
          <a:prstGeom prst="rect">
            <a:avLst/>
          </a:prstGeom>
        </p:spPr>
      </p:pic>
      <p:pic>
        <p:nvPicPr>
          <p:cNvPr id="10" name="図 9">
            <a:extLst>
              <a:ext uri="{FF2B5EF4-FFF2-40B4-BE49-F238E27FC236}">
                <a16:creationId xmlns:a16="http://schemas.microsoft.com/office/drawing/2014/main" id="{D9084073-09BD-0830-A91A-F4E16C58B6FD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871167" y="4288693"/>
            <a:ext cx="986802" cy="2160000"/>
          </a:xfrm>
          <a:prstGeom prst="rect">
            <a:avLst/>
          </a:prstGeom>
        </p:spPr>
      </p:pic>
      <p:grpSp>
        <p:nvGrpSpPr>
          <p:cNvPr id="32" name="グループ化 31">
            <a:extLst>
              <a:ext uri="{FF2B5EF4-FFF2-40B4-BE49-F238E27FC236}">
                <a16:creationId xmlns:a16="http://schemas.microsoft.com/office/drawing/2014/main" id="{D19E69C2-1E71-5861-EA2E-FB0B38BE0EDF}"/>
              </a:ext>
            </a:extLst>
          </p:cNvPr>
          <p:cNvGrpSpPr/>
          <p:nvPr/>
        </p:nvGrpSpPr>
        <p:grpSpPr>
          <a:xfrm>
            <a:off x="7789987" y="1133193"/>
            <a:ext cx="4111077" cy="2419635"/>
            <a:chOff x="7789987" y="1133193"/>
            <a:chExt cx="4111077" cy="2419635"/>
          </a:xfrm>
        </p:grpSpPr>
        <p:grpSp>
          <p:nvGrpSpPr>
            <p:cNvPr id="27" name="グループ化 26">
              <a:extLst>
                <a:ext uri="{FF2B5EF4-FFF2-40B4-BE49-F238E27FC236}">
                  <a16:creationId xmlns:a16="http://schemas.microsoft.com/office/drawing/2014/main" id="{6A7FC268-F1F7-02D3-A666-4CEBB532A24A}"/>
                </a:ext>
              </a:extLst>
            </p:cNvPr>
            <p:cNvGrpSpPr/>
            <p:nvPr/>
          </p:nvGrpSpPr>
          <p:grpSpPr>
            <a:xfrm>
              <a:off x="7789987" y="1392828"/>
              <a:ext cx="4111077" cy="2160000"/>
              <a:chOff x="7789987" y="1392828"/>
              <a:chExt cx="4111077" cy="2160000"/>
            </a:xfrm>
          </p:grpSpPr>
          <p:pic>
            <p:nvPicPr>
              <p:cNvPr id="12" name="図 11">
                <a:extLst>
                  <a:ext uri="{FF2B5EF4-FFF2-40B4-BE49-F238E27FC236}">
                    <a16:creationId xmlns:a16="http://schemas.microsoft.com/office/drawing/2014/main" id="{8A06BB27-F5A4-C95B-0171-BACF9155B0C9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5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1091426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18" name="図 17">
                <a:extLst>
                  <a:ext uri="{FF2B5EF4-FFF2-40B4-BE49-F238E27FC236}">
                    <a16:creationId xmlns:a16="http://schemas.microsoft.com/office/drawing/2014/main" id="{C16B2387-AF8C-4CE3-35B4-7F40F190A45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6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9872837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2" name="図 21">
                <a:extLst>
                  <a:ext uri="{FF2B5EF4-FFF2-40B4-BE49-F238E27FC236}">
                    <a16:creationId xmlns:a16="http://schemas.microsoft.com/office/drawing/2014/main" id="{5FF58DAD-C762-334F-2A43-B5C233D0DF65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7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8831412" y="1392828"/>
                <a:ext cx="986802" cy="2160000"/>
              </a:xfrm>
              <a:prstGeom prst="rect">
                <a:avLst/>
              </a:prstGeom>
            </p:spPr>
          </p:pic>
          <p:pic>
            <p:nvPicPr>
              <p:cNvPr id="26" name="図 25">
                <a:extLst>
                  <a:ext uri="{FF2B5EF4-FFF2-40B4-BE49-F238E27FC236}">
                    <a16:creationId xmlns:a16="http://schemas.microsoft.com/office/drawing/2014/main" id="{DE488F1F-F41D-189D-1A00-F84BB8B42E2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8">
                <a:extLst>
                  <a:ext uri="{28A0092B-C50C-407E-A947-70E740481C1C}">
                    <a14:useLocalDpi xmlns:a14="http://schemas.microsoft.com/office/drawing/2010/main" val="0"/>
                  </a:ext>
                </a:extLst>
              </a:blip>
              <a:stretch>
                <a:fillRect/>
              </a:stretch>
            </p:blipFill>
            <p:spPr>
              <a:xfrm>
                <a:off x="7789987" y="1392828"/>
                <a:ext cx="986802" cy="2160000"/>
              </a:xfrm>
              <a:prstGeom prst="rect">
                <a:avLst/>
              </a:prstGeom>
            </p:spPr>
          </p:pic>
        </p:grpSp>
        <p:sp>
          <p:nvSpPr>
            <p:cNvPr id="28" name="テキスト ボックス 27">
              <a:extLst>
                <a:ext uri="{FF2B5EF4-FFF2-40B4-BE49-F238E27FC236}">
                  <a16:creationId xmlns:a16="http://schemas.microsoft.com/office/drawing/2014/main" id="{5FE731F1-0662-1C4F-2E43-D9B0C4E5D166}"/>
                </a:ext>
              </a:extLst>
            </p:cNvPr>
            <p:cNvSpPr txBox="1"/>
            <p:nvPr/>
          </p:nvSpPr>
          <p:spPr>
            <a:xfrm>
              <a:off x="778998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①</a:t>
              </a:r>
            </a:p>
          </p:txBody>
        </p:sp>
        <p:sp>
          <p:nvSpPr>
            <p:cNvPr id="29" name="テキスト ボックス 28">
              <a:extLst>
                <a:ext uri="{FF2B5EF4-FFF2-40B4-BE49-F238E27FC236}">
                  <a16:creationId xmlns:a16="http://schemas.microsoft.com/office/drawing/2014/main" id="{F1302303-01A0-88B3-3158-1726BE3D6FF6}"/>
                </a:ext>
              </a:extLst>
            </p:cNvPr>
            <p:cNvSpPr txBox="1"/>
            <p:nvPr/>
          </p:nvSpPr>
          <p:spPr>
            <a:xfrm>
              <a:off x="8831412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②</a:t>
              </a:r>
            </a:p>
          </p:txBody>
        </p:sp>
        <p:sp>
          <p:nvSpPr>
            <p:cNvPr id="30" name="テキスト ボックス 29">
              <a:extLst>
                <a:ext uri="{FF2B5EF4-FFF2-40B4-BE49-F238E27FC236}">
                  <a16:creationId xmlns:a16="http://schemas.microsoft.com/office/drawing/2014/main" id="{D481FD58-4CDA-1DE5-D7DB-0490ECE3A851}"/>
                </a:ext>
              </a:extLst>
            </p:cNvPr>
            <p:cNvSpPr txBox="1"/>
            <p:nvPr/>
          </p:nvSpPr>
          <p:spPr>
            <a:xfrm>
              <a:off x="987283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③</a:t>
              </a:r>
            </a:p>
          </p:txBody>
        </p:sp>
        <p:sp>
          <p:nvSpPr>
            <p:cNvPr id="31" name="テキスト ボックス 30">
              <a:extLst>
                <a:ext uri="{FF2B5EF4-FFF2-40B4-BE49-F238E27FC236}">
                  <a16:creationId xmlns:a16="http://schemas.microsoft.com/office/drawing/2014/main" id="{604A3924-9B60-9200-516C-14FFCDD3831D}"/>
                </a:ext>
              </a:extLst>
            </p:cNvPr>
            <p:cNvSpPr txBox="1"/>
            <p:nvPr/>
          </p:nvSpPr>
          <p:spPr>
            <a:xfrm>
              <a:off x="10905297" y="1133193"/>
              <a:ext cx="493401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kumimoji="1" lang="ja-JP" altLang="en-US" sz="1600" dirty="0">
                  <a:latin typeface="LINE Seed JP_TTF Bold" panose="02020700000000000000" pitchFamily="18" charset="-128"/>
                  <a:ea typeface="LINE Seed JP_TTF Bold" panose="02020700000000000000" pitchFamily="18" charset="-128"/>
                </a:rPr>
                <a:t>④</a:t>
              </a:r>
            </a:p>
          </p:txBody>
        </p:sp>
      </p:grpSp>
      <p:sp>
        <p:nvSpPr>
          <p:cNvPr id="35" name="テキスト ボックス 34">
            <a:extLst>
              <a:ext uri="{FF2B5EF4-FFF2-40B4-BE49-F238E27FC236}">
                <a16:creationId xmlns:a16="http://schemas.microsoft.com/office/drawing/2014/main" id="{FBA835E6-8182-6EA0-7104-0B9C5EA4C37F}"/>
              </a:ext>
            </a:extLst>
          </p:cNvPr>
          <p:cNvSpPr txBox="1"/>
          <p:nvPr/>
        </p:nvSpPr>
        <p:spPr>
          <a:xfrm>
            <a:off x="779082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6" name="テキスト ボックス 35">
            <a:extLst>
              <a:ext uri="{FF2B5EF4-FFF2-40B4-BE49-F238E27FC236}">
                <a16:creationId xmlns:a16="http://schemas.microsoft.com/office/drawing/2014/main" id="{3E48198D-74D9-6692-4040-4BE3B4FD88FE}"/>
              </a:ext>
            </a:extLst>
          </p:cNvPr>
          <p:cNvSpPr txBox="1"/>
          <p:nvPr/>
        </p:nvSpPr>
        <p:spPr>
          <a:xfrm>
            <a:off x="883141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7" name="テキスト ボックス 36">
            <a:extLst>
              <a:ext uri="{FF2B5EF4-FFF2-40B4-BE49-F238E27FC236}">
                <a16:creationId xmlns:a16="http://schemas.microsoft.com/office/drawing/2014/main" id="{01E6B99C-3D68-A1D9-5451-DA4EE066BBC0}"/>
              </a:ext>
            </a:extLst>
          </p:cNvPr>
          <p:cNvSpPr txBox="1"/>
          <p:nvPr/>
        </p:nvSpPr>
        <p:spPr>
          <a:xfrm>
            <a:off x="9872002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8" name="テキスト ボックス 37">
            <a:extLst>
              <a:ext uri="{FF2B5EF4-FFF2-40B4-BE49-F238E27FC236}">
                <a16:creationId xmlns:a16="http://schemas.microsoft.com/office/drawing/2014/main" id="{697AAE23-B189-497F-FE50-586F2A7D3A3C}"/>
              </a:ext>
            </a:extLst>
          </p:cNvPr>
          <p:cNvSpPr txBox="1"/>
          <p:nvPr/>
        </p:nvSpPr>
        <p:spPr>
          <a:xfrm>
            <a:off x="10915097" y="4012879"/>
            <a:ext cx="985967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1-5.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39" name="正方形/長方形 38">
            <a:extLst>
              <a:ext uri="{FF2B5EF4-FFF2-40B4-BE49-F238E27FC236}">
                <a16:creationId xmlns:a16="http://schemas.microsoft.com/office/drawing/2014/main" id="{CC66B41B-F38C-F59D-EDCF-0D09076D8406}"/>
              </a:ext>
            </a:extLst>
          </p:cNvPr>
          <p:cNvSpPr/>
          <p:nvPr/>
        </p:nvSpPr>
        <p:spPr>
          <a:xfrm>
            <a:off x="8548189" y="4481829"/>
            <a:ext cx="255494" cy="239257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0" name="正方形/長方形 39">
            <a:extLst>
              <a:ext uri="{FF2B5EF4-FFF2-40B4-BE49-F238E27FC236}">
                <a16:creationId xmlns:a16="http://schemas.microsoft.com/office/drawing/2014/main" id="{2C78B1EE-151B-F364-8C9F-94700F6B675A}"/>
              </a:ext>
            </a:extLst>
          </p:cNvPr>
          <p:cNvSpPr/>
          <p:nvPr/>
        </p:nvSpPr>
        <p:spPr>
          <a:xfrm>
            <a:off x="9951404" y="52803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1" name="正方形/長方形 40">
            <a:extLst>
              <a:ext uri="{FF2B5EF4-FFF2-40B4-BE49-F238E27FC236}">
                <a16:creationId xmlns:a16="http://schemas.microsoft.com/office/drawing/2014/main" id="{92CA0E93-704B-1DBC-7171-F35E3B10AE46}"/>
              </a:ext>
            </a:extLst>
          </p:cNvPr>
          <p:cNvSpPr/>
          <p:nvPr/>
        </p:nvSpPr>
        <p:spPr>
          <a:xfrm>
            <a:off x="9951404" y="5508979"/>
            <a:ext cx="383881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42" name="正方形/長方形 41">
            <a:extLst>
              <a:ext uri="{FF2B5EF4-FFF2-40B4-BE49-F238E27FC236}">
                <a16:creationId xmlns:a16="http://schemas.microsoft.com/office/drawing/2014/main" id="{32B8845D-8E87-60FF-10D8-C2A9550D464D}"/>
              </a:ext>
            </a:extLst>
          </p:cNvPr>
          <p:cNvSpPr/>
          <p:nvPr/>
        </p:nvSpPr>
        <p:spPr>
          <a:xfrm>
            <a:off x="8906035" y="5047294"/>
            <a:ext cx="504665" cy="129766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pic>
        <p:nvPicPr>
          <p:cNvPr id="3" name="図 2">
            <a:extLst>
              <a:ext uri="{FF2B5EF4-FFF2-40B4-BE49-F238E27FC236}">
                <a16:creationId xmlns:a16="http://schemas.microsoft.com/office/drawing/2014/main" id="{11018149-A402-10B2-4837-9237DAB6F0E3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912592" y="4288693"/>
            <a:ext cx="986802" cy="2160000"/>
          </a:xfrm>
          <a:prstGeom prst="rect">
            <a:avLst/>
          </a:prstGeom>
        </p:spPr>
      </p:pic>
      <p:sp>
        <p:nvSpPr>
          <p:cNvPr id="5" name="正方形/長方形 4">
            <a:extLst>
              <a:ext uri="{FF2B5EF4-FFF2-40B4-BE49-F238E27FC236}">
                <a16:creationId xmlns:a16="http://schemas.microsoft.com/office/drawing/2014/main" id="{6975A4C6-A1E8-9010-A480-367D7196A028}"/>
              </a:ext>
            </a:extLst>
          </p:cNvPr>
          <p:cNvSpPr/>
          <p:nvPr/>
        </p:nvSpPr>
        <p:spPr>
          <a:xfrm>
            <a:off x="10923596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AD4B47EF-49F9-933B-8C7C-3FEBC633AD98}"/>
              </a:ext>
            </a:extLst>
          </p:cNvPr>
          <p:cNvSpPr/>
          <p:nvPr/>
        </p:nvSpPr>
        <p:spPr>
          <a:xfrm>
            <a:off x="11654118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96BB0EEF-11CF-7606-374D-73B2F1E38294}"/>
              </a:ext>
            </a:extLst>
          </p:cNvPr>
          <p:cNvSpPr/>
          <p:nvPr/>
        </p:nvSpPr>
        <p:spPr>
          <a:xfrm>
            <a:off x="11291149" y="6298918"/>
            <a:ext cx="224190" cy="122880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05321182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図 6">
            <a:extLst>
              <a:ext uri="{FF2B5EF4-FFF2-40B4-BE49-F238E27FC236}">
                <a16:creationId xmlns:a16="http://schemas.microsoft.com/office/drawing/2014/main" id="{CF58DCAB-9FCD-D139-4D68-69FD1CDD00D7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055761" y="684827"/>
            <a:ext cx="1315736" cy="2880000"/>
          </a:xfrm>
          <a:prstGeom prst="rect">
            <a:avLst/>
          </a:prstGeom>
        </p:spPr>
      </p:pic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ADC695A-CBEF-3297-2172-55F1F65C6BA6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</a:t>
            </a:r>
            <a:r>
              <a:rPr kumimoji="1" lang="en-US" altLang="ja-JP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v26.8.2 </a:t>
            </a:r>
            <a:r>
              <a:rPr kumimoji="1"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戦績チェックガイド</a:t>
            </a: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B31E5392-D076-AF4C-9065-E67CA9621828}"/>
              </a:ext>
            </a:extLst>
          </p:cNvPr>
          <p:cNvSpPr txBox="1"/>
          <p:nvPr/>
        </p:nvSpPr>
        <p:spPr>
          <a:xfrm>
            <a:off x="285306" y="1212112"/>
            <a:ext cx="7998082" cy="5078313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レコード編集機能 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画面下部のボタンが編集モード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b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任意のレコードで長押しする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勝敗、選択パーティ、使用モンスターの修正が可能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1-3.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その他、レコードの追加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削除、マッチングスコアの確認が可能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レコードフィルタ機能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※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画面下部のボタンがフィルタモード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レコード左端の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を押すと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WIN/LOSE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でフィルタ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レコード中の任意のモンスターを押すと対象モンスターでフィルタ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2-3.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画面上部のフィルタ欄の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フィルタ条件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/CLEAR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ボタンで解除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レコード集計機能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3-1. 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画面下部右側の虫眼鏡アイコン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(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)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を選択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3-2. 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「パーティ集計」もしくは「モンスター集計」を選択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①パーティ集計：最新の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以外の過去のパーティ戦績が確認できる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②モンスター集計：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	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モンスター：</a:t>
            </a:r>
            <a:r>
              <a:rPr kumimoji="1"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kumimoji="1"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単位のモンスター出現率や勝率が確認できる</a:t>
            </a:r>
            <a:endParaRPr kumimoji="1"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	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パーティ：モンスターの組み合わせで出現率や勝率が確認できる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→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24H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単位のグラフは表示</a:t>
            </a:r>
            <a:r>
              <a:rPr lang="en-US" altLang="ja-JP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/</a:t>
            </a:r>
            <a:r>
              <a:rPr lang="ja-JP" altLang="en-US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非表示を切り替え可能です</a:t>
            </a:r>
            <a:endParaRPr lang="en-US" altLang="ja-JP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5" name="図 4">
            <a:extLst>
              <a:ext uri="{FF2B5EF4-FFF2-40B4-BE49-F238E27FC236}">
                <a16:creationId xmlns:a16="http://schemas.microsoft.com/office/drawing/2014/main" id="{21605A71-E89F-D35F-C9A2-D1FA005E19B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14946" y="3894805"/>
            <a:ext cx="1315736" cy="2880000"/>
          </a:xfrm>
          <a:prstGeom prst="rect">
            <a:avLst/>
          </a:prstGeom>
        </p:spPr>
      </p:pic>
      <p:pic>
        <p:nvPicPr>
          <p:cNvPr id="9" name="図 8">
            <a:extLst>
              <a:ext uri="{FF2B5EF4-FFF2-40B4-BE49-F238E27FC236}">
                <a16:creationId xmlns:a16="http://schemas.microsoft.com/office/drawing/2014/main" id="{CBF88DAA-3308-7616-5792-897F5E5DB9FB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429358" y="684827"/>
            <a:ext cx="1315736" cy="2880000"/>
          </a:xfrm>
          <a:prstGeom prst="rect">
            <a:avLst/>
          </a:prstGeom>
        </p:spPr>
      </p:pic>
      <p:pic>
        <p:nvPicPr>
          <p:cNvPr id="11" name="図 10">
            <a:extLst>
              <a:ext uri="{FF2B5EF4-FFF2-40B4-BE49-F238E27FC236}">
                <a16:creationId xmlns:a16="http://schemas.microsoft.com/office/drawing/2014/main" id="{7583A8DD-D857-06C0-FA11-E15E362E17A0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802955" y="673113"/>
            <a:ext cx="1315736" cy="2880000"/>
          </a:xfrm>
          <a:prstGeom prst="rect">
            <a:avLst/>
          </a:prstGeom>
        </p:spPr>
      </p:pic>
      <p:pic>
        <p:nvPicPr>
          <p:cNvPr id="13" name="図 12">
            <a:extLst>
              <a:ext uri="{FF2B5EF4-FFF2-40B4-BE49-F238E27FC236}">
                <a16:creationId xmlns:a16="http://schemas.microsoft.com/office/drawing/2014/main" id="{5F2EDBB5-044F-EBD8-41A5-2227C68F3580}"/>
              </a:ext>
            </a:extLst>
          </p:cNvPr>
          <p:cNvPicPr>
            <a:picLocks noChangeAspect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784697" y="3894805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1C79C4DC-DD4A-BD6E-8581-9D4328D6F56D}"/>
              </a:ext>
            </a:extLst>
          </p:cNvPr>
          <p:cNvPicPr>
            <a:picLocks noChangeAspect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078069" y="1119387"/>
            <a:ext cx="432000" cy="432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D68C6C6F-47C6-7797-CBBD-A427486BDBD0}"/>
              </a:ext>
            </a:extLst>
          </p:cNvPr>
          <p:cNvPicPr>
            <a:picLocks noChangeAspect="1"/>
          </p:cNvPicPr>
          <p:nvPr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961923" y="2490285"/>
            <a:ext cx="432000" cy="432000"/>
          </a:xfrm>
          <a:prstGeom prst="rect">
            <a:avLst/>
          </a:prstGeom>
        </p:spPr>
      </p:pic>
      <p:pic>
        <p:nvPicPr>
          <p:cNvPr id="19" name="図 18">
            <a:extLst>
              <a:ext uri="{FF2B5EF4-FFF2-40B4-BE49-F238E27FC236}">
                <a16:creationId xmlns:a16="http://schemas.microsoft.com/office/drawing/2014/main" id="{AE06AC10-10D8-FA0E-AB88-8EAE8C4E0FE1}"/>
              </a:ext>
            </a:extLst>
          </p:cNvPr>
          <p:cNvPicPr>
            <a:picLocks noChangeAspect="1"/>
          </p:cNvPicPr>
          <p:nvPr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439398" y="4094258"/>
            <a:ext cx="432000" cy="432000"/>
          </a:xfrm>
          <a:prstGeom prst="rect">
            <a:avLst/>
          </a:prstGeom>
        </p:spPr>
      </p:pic>
      <p:sp>
        <p:nvSpPr>
          <p:cNvPr id="24" name="テキスト ボックス 23">
            <a:extLst>
              <a:ext uri="{FF2B5EF4-FFF2-40B4-BE49-F238E27FC236}">
                <a16:creationId xmlns:a16="http://schemas.microsoft.com/office/drawing/2014/main" id="{9F5D1E4E-6A84-2A5D-73F1-47DC14D79397}"/>
              </a:ext>
            </a:extLst>
          </p:cNvPr>
          <p:cNvSpPr txBox="1"/>
          <p:nvPr/>
        </p:nvSpPr>
        <p:spPr>
          <a:xfrm>
            <a:off x="8784697" y="3621383"/>
            <a:ext cx="274598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636F7867-3EEA-E744-EC42-BC3E8E1E08F8}"/>
              </a:ext>
            </a:extLst>
          </p:cNvPr>
          <p:cNvSpPr txBox="1"/>
          <p:nvPr/>
        </p:nvSpPr>
        <p:spPr>
          <a:xfrm>
            <a:off x="10745094" y="386164"/>
            <a:ext cx="986802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749F43CF-8103-6109-F255-D0C832095B58}"/>
              </a:ext>
            </a:extLst>
          </p:cNvPr>
          <p:cNvSpPr txBox="1"/>
          <p:nvPr/>
        </p:nvSpPr>
        <p:spPr>
          <a:xfrm>
            <a:off x="8055761" y="388331"/>
            <a:ext cx="2689333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2710549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39931B4-7A8A-595C-42B1-76B754356C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95D84F53-D300-52EB-5042-2EF9EE62391D}"/>
              </a:ext>
            </a:extLst>
          </p:cNvPr>
          <p:cNvSpPr txBox="1"/>
          <p:nvPr/>
        </p:nvSpPr>
        <p:spPr>
          <a:xfrm>
            <a:off x="285306" y="435566"/>
            <a:ext cx="11621387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なかモン</a:t>
            </a:r>
            <a:r>
              <a:rPr lang="en-US" altLang="ja-JP" sz="240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REC</a:t>
            </a:r>
            <a:r>
              <a:rPr kumimoji="1" lang="en-US" altLang="ja-JP" sz="240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 v26.8.2 </a:t>
            </a:r>
            <a:r>
              <a:rPr lang="ja-JP" altLang="en-US" sz="2400" dirty="0">
                <a:latin typeface="LINE Seed JP_TTF ExtraBold" panose="02020800000000000000" pitchFamily="18" charset="-128"/>
                <a:ea typeface="LINE Seed JP_TTF ExtraBold" panose="02020800000000000000" pitchFamily="18" charset="-128"/>
              </a:rPr>
              <a:t>自動記録されず困ったときは</a:t>
            </a:r>
            <a:endParaRPr kumimoji="1" lang="ja-JP" altLang="en-US" sz="2400" dirty="0">
              <a:latin typeface="LINE Seed JP_TTF ExtraBold" panose="02020800000000000000" pitchFamily="18" charset="-128"/>
              <a:ea typeface="LINE Seed JP_TTF ExtraBold" panose="02020800000000000000" pitchFamily="18" charset="-128"/>
            </a:endParaRPr>
          </a:p>
        </p:txBody>
      </p:sp>
      <p:sp>
        <p:nvSpPr>
          <p:cNvPr id="3" name="テキスト ボックス 2">
            <a:extLst>
              <a:ext uri="{FF2B5EF4-FFF2-40B4-BE49-F238E27FC236}">
                <a16:creationId xmlns:a16="http://schemas.microsoft.com/office/drawing/2014/main" id="{74B6DFC0-F53F-73B3-3195-24D7041D67BB}"/>
              </a:ext>
            </a:extLst>
          </p:cNvPr>
          <p:cNvSpPr txBox="1"/>
          <p:nvPr/>
        </p:nvSpPr>
        <p:spPr>
          <a:xfrm>
            <a:off x="285306" y="1212112"/>
            <a:ext cx="7998082" cy="526297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kumimoji="1"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1. 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画面校正を行っているか確認する</a:t>
            </a:r>
            <a:br>
              <a:rPr kumimoji="1"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</a:t>
            </a:r>
            <a:r>
              <a:rPr kumimoji="1" lang="ja-JP" altLang="en-US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とくにパーティ選択画面は</a:t>
            </a:r>
            <a:r>
              <a:rPr kumimoji="1" lang="en-US" altLang="ja-JP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P1</a:t>
            </a:r>
            <a:r>
              <a:rPr kumimoji="1" lang="ja-JP" altLang="en-US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～</a:t>
            </a:r>
            <a:r>
              <a:rPr kumimoji="1" lang="en-US" altLang="ja-JP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</a:t>
            </a:r>
            <a:r>
              <a:rPr kumimoji="1" lang="ja-JP" altLang="en-US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いずれかにフォーカスを当てて</a:t>
            </a:r>
            <a:endParaRPr lang="en-US" altLang="ja-JP" sz="1400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sz="1400" dirty="0">
                <a:solidFill>
                  <a:srgbClr val="F09199"/>
                </a:solidFill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校正しているか確認してください。</a:t>
            </a:r>
            <a:endParaRPr kumimoji="1" lang="en-US" altLang="ja-JP" sz="1400" dirty="0">
              <a:solidFill>
                <a:srgbClr val="F09199"/>
              </a:solidFill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2. 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スマホ解像度を確認する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→スマホによっては省エネモードとして低解像度設定できたり、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逆に高解像度に設定できたりしますが、本アプリは解像度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1080x2364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で開発しています。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お手数ですが上記解像度に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近い設定でお使いいただくと自動記録の精度があがります。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 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モンスター識別の解析モードを確認する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→昔のスマホをお使いの方で処理負荷が高いと感じた方は、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軽負荷モードをお試しください。通常モードでは全モンスターを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マッチング対象としていますが、軽負荷モードではマッチング対象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を絞ることで動作を軽くすることが可能です。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 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マッチングスコアログを確認する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→上記でも自動記録しない場合はお問い合わせください。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その際、マッチングスコア詳細画面を共有いただけると助かります。</a:t>
            </a:r>
            <a:br>
              <a:rPr kumimoji="1"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5. 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解析時間を確認する</a:t>
            </a:r>
            <a:b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</a:b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→解析は</a:t>
            </a:r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10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秒前後かかります。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解析が終わる前に</a:t>
            </a:r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REC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→</a:t>
            </a:r>
            <a:r>
              <a:rPr lang="en-US" altLang="ja-JP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STOP</a:t>
            </a:r>
            <a:r>
              <a:rPr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するとモンスターが識別されません。</a:t>
            </a:r>
            <a:endParaRPr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  <a:p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　　解析</a:t>
            </a:r>
            <a:r>
              <a:rPr kumimoji="1" lang="ja-JP" altLang="en-US" sz="14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時間はバージョン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番号</a:t>
            </a:r>
            <a:r>
              <a:rPr kumimoji="1" lang="ja-JP" altLang="en-US" sz="14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長押し→「</a:t>
            </a:r>
            <a:r>
              <a:rPr kumimoji="1" lang="ja-JP" altLang="en-US" sz="14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直近の解析</a:t>
            </a:r>
            <a:r>
              <a:rPr kumimoji="1" lang="ja-JP" altLang="en-US" sz="140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ログ」から確認できます。</a:t>
            </a:r>
            <a:endParaRPr kumimoji="1" lang="en-US" altLang="ja-JP" sz="14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5" name="テキスト ボックス 24">
            <a:extLst>
              <a:ext uri="{FF2B5EF4-FFF2-40B4-BE49-F238E27FC236}">
                <a16:creationId xmlns:a16="http://schemas.microsoft.com/office/drawing/2014/main" id="{F803387B-6DED-DF96-F155-3DF30D6BB3C6}"/>
              </a:ext>
            </a:extLst>
          </p:cNvPr>
          <p:cNvSpPr txBox="1"/>
          <p:nvPr/>
        </p:nvSpPr>
        <p:spPr>
          <a:xfrm>
            <a:off x="10590956" y="1674119"/>
            <a:ext cx="1315736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4.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sp>
        <p:nvSpPr>
          <p:cNvPr id="26" name="テキスト ボックス 25">
            <a:extLst>
              <a:ext uri="{FF2B5EF4-FFF2-40B4-BE49-F238E27FC236}">
                <a16:creationId xmlns:a16="http://schemas.microsoft.com/office/drawing/2014/main" id="{85EDEBDD-23E8-E455-62AA-7180C79D1D95}"/>
              </a:ext>
            </a:extLst>
          </p:cNvPr>
          <p:cNvSpPr txBox="1"/>
          <p:nvPr/>
        </p:nvSpPr>
        <p:spPr>
          <a:xfrm>
            <a:off x="7825850" y="1674119"/>
            <a:ext cx="2698289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ja-JP" sz="1600" dirty="0">
                <a:latin typeface="LINE Seed JP_TTF Bold" panose="02020700000000000000" pitchFamily="18" charset="-128"/>
                <a:ea typeface="LINE Seed JP_TTF Bold" panose="02020700000000000000" pitchFamily="18" charset="-128"/>
              </a:rPr>
              <a:t>3.</a:t>
            </a:r>
            <a:endParaRPr kumimoji="1" lang="ja-JP" altLang="en-US" sz="1600" dirty="0">
              <a:latin typeface="LINE Seed JP_TTF Bold" panose="02020700000000000000" pitchFamily="18" charset="-128"/>
              <a:ea typeface="LINE Seed JP_TTF Bold" panose="02020700000000000000" pitchFamily="18" charset="-128"/>
            </a:endParaRPr>
          </a:p>
        </p:txBody>
      </p:sp>
      <p:pic>
        <p:nvPicPr>
          <p:cNvPr id="14" name="図 13">
            <a:extLst>
              <a:ext uri="{FF2B5EF4-FFF2-40B4-BE49-F238E27FC236}">
                <a16:creationId xmlns:a16="http://schemas.microsoft.com/office/drawing/2014/main" id="{A9C56838-64D2-7EDB-65D0-74B7CD7C827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208403" y="1989000"/>
            <a:ext cx="1315736" cy="2880000"/>
          </a:xfrm>
          <a:prstGeom prst="rect">
            <a:avLst/>
          </a:prstGeom>
        </p:spPr>
      </p:pic>
      <p:pic>
        <p:nvPicPr>
          <p:cNvPr id="15" name="図 14">
            <a:extLst>
              <a:ext uri="{FF2B5EF4-FFF2-40B4-BE49-F238E27FC236}">
                <a16:creationId xmlns:a16="http://schemas.microsoft.com/office/drawing/2014/main" id="{C8BDC94B-01A0-3655-CE30-2B1065C61CE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825850" y="1989000"/>
            <a:ext cx="1315736" cy="2880000"/>
          </a:xfrm>
          <a:prstGeom prst="rect">
            <a:avLst/>
          </a:prstGeom>
        </p:spPr>
      </p:pic>
      <p:pic>
        <p:nvPicPr>
          <p:cNvPr id="17" name="図 16">
            <a:extLst>
              <a:ext uri="{FF2B5EF4-FFF2-40B4-BE49-F238E27FC236}">
                <a16:creationId xmlns:a16="http://schemas.microsoft.com/office/drawing/2014/main" id="{FD1F39A3-42F3-85BE-BC3E-854DE1E9D18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590957" y="1989000"/>
            <a:ext cx="1315736" cy="2880000"/>
          </a:xfrm>
          <a:prstGeom prst="rect">
            <a:avLst/>
          </a:prstGeom>
        </p:spPr>
      </p:pic>
      <p:sp>
        <p:nvSpPr>
          <p:cNvPr id="18" name="正方形/長方形 17">
            <a:extLst>
              <a:ext uri="{FF2B5EF4-FFF2-40B4-BE49-F238E27FC236}">
                <a16:creationId xmlns:a16="http://schemas.microsoft.com/office/drawing/2014/main" id="{AAB65F48-C341-DBF7-A76F-CD3E62F4964E}"/>
              </a:ext>
            </a:extLst>
          </p:cNvPr>
          <p:cNvSpPr/>
          <p:nvPr/>
        </p:nvSpPr>
        <p:spPr>
          <a:xfrm>
            <a:off x="7928594" y="3693624"/>
            <a:ext cx="1080935" cy="322563"/>
          </a:xfrm>
          <a:prstGeom prst="rect">
            <a:avLst/>
          </a:prstGeom>
          <a:noFill/>
          <a:ln w="38100">
            <a:solidFill>
              <a:srgbClr val="00B05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3606983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游ゴシック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342</TotalTime>
  <Words>993</Words>
  <Application>Microsoft Office PowerPoint</Application>
  <PresentationFormat>ワイド画面</PresentationFormat>
  <Paragraphs>99</Paragraphs>
  <Slides>4</Slides>
  <Notes>0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4</vt:i4>
      </vt:variant>
    </vt:vector>
  </HeadingPairs>
  <TitlesOfParts>
    <vt:vector size="10" baseType="lpstr">
      <vt:lpstr>LINE Seed JP_TTF Bold</vt:lpstr>
      <vt:lpstr>LINE Seed JP_TTF ExtraBold</vt:lpstr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友樹 小林</dc:creator>
  <cp:lastModifiedBy>友樹 小林</cp:lastModifiedBy>
  <cp:revision>50</cp:revision>
  <dcterms:created xsi:type="dcterms:W3CDTF">2026-05-07T10:29:07Z</dcterms:created>
  <dcterms:modified xsi:type="dcterms:W3CDTF">2026-08-16T12:58:07Z</dcterms:modified>
</cp:coreProperties>
</file>